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05840" y="1508760"/>
            <a:ext cx="10149840" cy="123444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Corporate Learning Progress,
Intervention &amp; Compliance Tracking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2971800"/>
            <a:ext cx="4572000" cy="32004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Aptos"/>
              </a:rPr>
              <a:t>POC Presentation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3401568"/>
            <a:ext cx="7498079" cy="32004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Aptos"/>
              </a:rPr>
              <a:t>Hybrid Enterprise Architecture | .NET Enterprise Stack | Azure Container Apps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4617720"/>
            <a:ext cx="1554480" cy="56692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Track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4617720"/>
            <a:ext cx="1554480" cy="56692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Detect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617720"/>
            <a:ext cx="1554480" cy="56692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Intervene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4617720"/>
            <a:ext cx="1554480" cy="566928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Corporate Learning Progress Tracking System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869680" cy="384048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r>
              <a:rPr sz="2400" b="1">
                <a:solidFill>
                  <a:srgbClr val="172554"/>
                </a:solidFill>
                <a:latin typeface="Aptos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064240" cy="1828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F172A"/>
                </a:solidFill>
                <a:latin typeface="Aptos"/>
              </a:defRPr>
            </a:pPr>
            <a:r>
              <a:t>Learning data is fragmented across LMS platforms, assessment tools, spreadsheets, and trainer notes.</a:t>
            </a:r>
          </a:p>
          <a:p>
            <a:pPr>
              <a:defRPr sz="1700">
                <a:solidFill>
                  <a:srgbClr val="0F172A"/>
                </a:solidFill>
                <a:latin typeface="Aptos"/>
              </a:defRPr>
            </a:pPr>
            <a:r>
              <a:t>At-risk learners are often identified late, making interventions reactive rather than proactive.</a:t>
            </a:r>
          </a:p>
          <a:p>
            <a:pPr>
              <a:defRPr sz="1700">
                <a:solidFill>
                  <a:srgbClr val="0F172A"/>
                </a:solidFill>
                <a:latin typeface="Aptos"/>
              </a:defRPr>
            </a:pPr>
            <a:r>
              <a:t>Managers, trainers, L&amp;D admins, and compliance officers lack one trusted view of learning progress and evidence.</a:t>
            </a:r>
          </a:p>
          <a:p>
            <a:pPr>
              <a:defRPr sz="1700">
                <a:solidFill>
                  <a:srgbClr val="0F172A"/>
                </a:solidFill>
                <a:latin typeface="Aptos"/>
              </a:defRPr>
            </a:pPr>
            <a:r>
              <a:t>Manual reconciliation creates delays, quality issues, and audit-readiness gaps.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20840" y="1417320"/>
            <a:ext cx="2011680" cy="105156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Current State
Fragmented data
Manual follow-up
Delayed risk visibility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732520" y="1938528"/>
            <a:ext cx="640080" cy="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372600" y="1417320"/>
            <a:ext cx="2057400" cy="105156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Business Impact
Missed competency deadlines
Weak intervention evidence
Compliance risk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3063240"/>
            <a:ext cx="4709160" cy="50292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Core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703320"/>
            <a:ext cx="4407408" cy="114300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r>
              <a:rPr sz="1600" b="0">
                <a:solidFill>
                  <a:srgbClr val="0F172A"/>
                </a:solidFill>
                <a:latin typeface="Aptos"/>
              </a:rPr>
              <a:t>Create a focused tracking system that consolidates learning progress, flags risk early, supports intervention workflows, and produces compliance-ready evidence without replacing the LMS.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Corporate Learning Progress Tracking System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869680" cy="384048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r>
              <a:rPr sz="2400" b="1">
                <a:solidFill>
                  <a:srgbClr val="172554"/>
                </a:solidFill>
                <a:latin typeface="Aptos"/>
              </a:rPr>
              <a:t>Expected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064240" cy="1828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F172A"/>
                </a:solidFill>
                <a:latin typeface="Aptos"/>
              </a:defRPr>
            </a:pPr>
            <a:r>
              <a:t>Single learner profile combining attendance, assessments, competencies, risk status, and interventions.</a:t>
            </a:r>
          </a:p>
          <a:p>
            <a:pPr>
              <a:defRPr sz="1600">
                <a:solidFill>
                  <a:srgbClr val="0F172A"/>
                </a:solidFill>
                <a:latin typeface="Aptos"/>
              </a:defRPr>
            </a:pPr>
            <a:r>
              <a:t>Configurable risk rules for proactive detection of learners who may miss mandatory learning outcomes.</a:t>
            </a:r>
          </a:p>
          <a:p>
            <a:pPr>
              <a:defRPr sz="1600">
                <a:solidFill>
                  <a:srgbClr val="0F172A"/>
                </a:solidFill>
                <a:latin typeface="Aptos"/>
              </a:defRPr>
            </a:pPr>
            <a:r>
              <a:t>Intervention tracking for remedial training, coaching, mentoring, notes, ownership, and outcomes.</a:t>
            </a:r>
          </a:p>
          <a:p>
            <a:pPr>
              <a:defRPr sz="1600">
                <a:solidFill>
                  <a:srgbClr val="0F172A"/>
                </a:solidFill>
                <a:latin typeface="Aptos"/>
              </a:defRPr>
            </a:pPr>
            <a:r>
              <a:t>Compliance dashboards and reports with auditable evidence and export-ready information.</a:t>
            </a:r>
          </a:p>
          <a:p>
            <a:pPr>
              <a:defRPr sz="1600">
                <a:solidFill>
                  <a:srgbClr val="0F172A"/>
                </a:solidFill>
                <a:latin typeface="Aptos"/>
              </a:defRPr>
            </a:pPr>
            <a:r>
              <a:t>API, Excel, and UI-form ingestion paths for practical enterprise data onboarding.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29400" y="1325880"/>
            <a:ext cx="2057400" cy="493776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Ingest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662672" y="1819656"/>
            <a:ext cx="0" cy="265175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629400" y="2130552"/>
            <a:ext cx="2057400" cy="493776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Normalize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662672" y="2624328"/>
            <a:ext cx="0" cy="265175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629400" y="2935224"/>
            <a:ext cx="2057400" cy="493776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Assess Risk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662672" y="3429000"/>
            <a:ext cx="0" cy="265176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629400" y="3739896"/>
            <a:ext cx="2057400" cy="493776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Intervene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662672" y="4233672"/>
            <a:ext cx="0" cy="265176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629400" y="4544568"/>
            <a:ext cx="2057400" cy="493776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331720"/>
            <a:ext cx="2011680" cy="132588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Trusted Learning Progress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Corporate Learning Progress Tracking System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869680" cy="384048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r>
              <a:rPr sz="2400" b="1">
                <a:solidFill>
                  <a:srgbClr val="172554"/>
                </a:solidFill>
                <a:latin typeface="Aptos"/>
              </a:rPr>
              <a:t>Features in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064240" cy="1828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" y="1325880"/>
          <a:ext cx="1092708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3540"/>
                <a:gridCol w="5463540"/>
              </a:tblGrid>
              <a:tr h="63354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Module</a:t>
                      </a:r>
                    </a:p>
                  </a:txBody>
                  <a:tcPr marL="54864" marR="54864" marT="36576" marB="36576"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In-Scope Capabilities</a:t>
                      </a:r>
                    </a:p>
                  </a:txBody>
                  <a:tcPr marL="54864" marR="54864" marT="36576" marB="36576">
                    <a:solidFill>
                      <a:srgbClr val="172554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Learner Profile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Identity, program summary, attendance, assessment, competency status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Data Ingestion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REST APIs, Excel upload, UI forms, import batches, row errors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Competency Tracking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Milestones, due dates, completion, overdue visibility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Risk &amp; Interventions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Risk rules, classification, notes, outcomes, history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Dashboards &amp; Reports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Compliance readiness, operational metrics, report requests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63355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Admin &amp; Audit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Users, roles, configurations, data sources, audit logs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897880"/>
            <a:ext cx="10424160" cy="32004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Aptos"/>
              </a:rPr>
              <a:t>Out of scope: course content authoring, e-learning player, payment marketplace, full HR lifecycle management, and fully automated regulatory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Corporate Learning Progress Tracking System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869680" cy="384048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r>
              <a:rPr sz="2400" b="1">
                <a:solidFill>
                  <a:srgbClr val="172554"/>
                </a:solidFill>
                <a:latin typeface="Aptos"/>
              </a:rPr>
              <a:t>User Restrictions and Rights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064240" cy="1828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120140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/>
                <a:gridCol w="3733800"/>
                <a:gridCol w="3733800"/>
              </a:tblGrid>
              <a:tr h="69886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Role</a:t>
                      </a:r>
                    </a:p>
                  </a:txBody>
                  <a:tcPr marL="54864" marR="54864" marT="36576" marB="36576"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Allowed</a:t>
                      </a:r>
                    </a:p>
                  </a:txBody>
                  <a:tcPr marL="54864" marR="54864" marT="36576" marB="36576"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Restricted</a:t>
                      </a:r>
                    </a:p>
                  </a:txBody>
                  <a:tcPr marL="54864" marR="54864" marT="36576" marB="36576">
                    <a:solidFill>
                      <a:srgbClr val="172554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Employee Learner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View own profile, status, next actions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Cannot edit official records or view others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Trainer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View assigned learners, create interventions, add notes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Cannot manage integrations or global permissions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Manager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View team progress and risk summary, add follow-up notes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Cannot edit assessment or attendance records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L&amp;D Admin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Manage risk rules, data quality, interventions, reports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Cannot bypass audit logging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Compliance Officer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View evidence, dashboards, reports, exports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Cannot alter source learning records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69886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System Admin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Manage users, roles, integrations, jobs, settings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Should not change business outcomes directly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Corporate Learning Progress Tracking System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869680" cy="384048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r>
              <a:rPr sz="2400" b="1">
                <a:solidFill>
                  <a:srgbClr val="172554"/>
                </a:solidFill>
                <a:latin typeface="Aptos"/>
              </a:rPr>
              <a:t>High Level Architecture Diagram: Hybrid Enterprise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064240" cy="1828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2057400" cy="9144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Users
Learner | Trainer | Manager
L&amp;D Admin | Compliance | SysAdmin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71800" y="1325880"/>
            <a:ext cx="1828800" cy="6858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React / Angular
Web 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49240" y="1325880"/>
            <a:ext cx="2148840" cy="68580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ASP.NET Core API
Controllers + Auth +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9240" y="2423160"/>
            <a:ext cx="2148840" cy="68580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Application Layer
Services | DTOs | Use Cases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9240" y="3520440"/>
            <a:ext cx="2148840" cy="6858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Domain Layer
Rules | Entities | Policies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9240" y="4617720"/>
            <a:ext cx="2148840" cy="6858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Infrastructure Layer
EF Core | Repositories | Integrations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874519"/>
            <a:ext cx="1920240" cy="6858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PostgreSQL / SQL Server
Transactional Store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880360"/>
            <a:ext cx="1920240" cy="6858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Redis Cache
Fast dashboard reads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886200"/>
            <a:ext cx="1920240" cy="68580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Blob/Object Storage
Reports + imports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023360"/>
            <a:ext cx="201168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External LMS / HRIS
Assessment Tools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87000" y="2834640"/>
            <a:ext cx="1463040" cy="105156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Background Workers
Import | Risk | Reports | Notifications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60320" y="1783080"/>
            <a:ext cx="411480" cy="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800600" y="1783080"/>
            <a:ext cx="548640" cy="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419088" y="2011680"/>
            <a:ext cx="0" cy="41148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19088" y="3108960"/>
            <a:ext cx="0" cy="41148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19088" y="4206240"/>
            <a:ext cx="0" cy="41148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98079" y="1847088"/>
            <a:ext cx="731521" cy="36576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98079" y="2743200"/>
            <a:ext cx="731521" cy="475488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498079" y="4251960"/>
            <a:ext cx="731521" cy="704088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697480" y="4434840"/>
            <a:ext cx="2651760" cy="521208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149840" y="3218688"/>
            <a:ext cx="137160" cy="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1520" y="5879592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Aptos"/>
              </a:rPr>
              <a:t>Hybrid enterprise approach: modular monolith POC with clear boundaries, managed data services, containerized API/workers, and integration-ready interfaces.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Corporate Learning Progress Tracking System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869680" cy="384048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r>
              <a:rPr sz="2400" b="1">
                <a:solidFill>
                  <a:srgbClr val="172554"/>
                </a:solidFill>
                <a:latin typeface="Aptos"/>
              </a:rPr>
              <a:t>Tech Stack Diagram: Option 3 .NET Enterprise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064240" cy="1828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207008"/>
            <a:ext cx="1600200" cy="45720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97480" y="1207008"/>
            <a:ext cx="8549640" cy="4572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React / Angular + TypeScript + Vite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65376"/>
            <a:ext cx="1600200" cy="45720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80" y="1865376"/>
            <a:ext cx="8549640" cy="4572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ASP.NET Core Web API (.NET 8), OpenAPI, Controllers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23744"/>
            <a:ext cx="1600200" cy="45720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Business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2523744"/>
            <a:ext cx="8549640" cy="45720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Application Services, DTOs, Validation, Risk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82112"/>
            <a:ext cx="1600200" cy="45720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3182112"/>
            <a:ext cx="8549640" cy="4572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EF Core + PostgreSQL / SQL Server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40480"/>
            <a:ext cx="1600200" cy="45720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Performance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3840480"/>
            <a:ext cx="8549640" cy="4572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Redis cache for dashboard and lookup acceleration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498848"/>
            <a:ext cx="1600200" cy="45720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Runtime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4498848"/>
            <a:ext cx="8549640" cy="4572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Docker containers for API, frontend, and workers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157216"/>
            <a:ext cx="1600200" cy="45720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Platform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5157216"/>
            <a:ext cx="8549640" cy="45720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Azure Container Apps, Key Vault, Monitor, Entra 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Corporate Learning Progress Tracking System |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869680" cy="384048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r>
              <a:rPr sz="2400" b="1">
                <a:solidFill>
                  <a:srgbClr val="172554"/>
                </a:solidFill>
                <a:latin typeface="Aptos"/>
              </a:rPr>
              <a:t>Reasons for Choosing Option 3: .NET Enterprise 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064240" cy="1828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F172A"/>
                </a:solidFill>
                <a:latin typeface="Aptos"/>
              </a:defRPr>
            </a:pPr>
            <a:r>
              <a:t>Strong fit for enterprise compliance, RBAC, audit logging, background jobs, and integration-heavy workflows.</a:t>
            </a:r>
          </a:p>
          <a:p>
            <a:pPr>
              <a:defRPr sz="1600">
                <a:solidFill>
                  <a:srgbClr val="0F172A"/>
                </a:solidFill>
                <a:latin typeface="Aptos"/>
              </a:defRPr>
            </a:pPr>
            <a:r>
              <a:t>ASP.NET Core provides mature API performance, dependency injection, health checks, OpenAPI support, and security integration.</a:t>
            </a:r>
          </a:p>
          <a:p>
            <a:pPr>
              <a:defRPr sz="1600">
                <a:solidFill>
                  <a:srgbClr val="0F172A"/>
                </a:solidFill>
                <a:latin typeface="Aptos"/>
              </a:defRPr>
            </a:pPr>
            <a:r>
              <a:t>EF Core supports both PostgreSQL and SQL Server, keeping database choice flexible for enterprise environments.</a:t>
            </a:r>
          </a:p>
          <a:p>
            <a:pPr>
              <a:defRPr sz="1600">
                <a:solidFill>
                  <a:srgbClr val="0F172A"/>
                </a:solidFill>
                <a:latin typeface="Aptos"/>
              </a:defRPr>
            </a:pPr>
            <a:r>
              <a:t>React/Angular frontends support rich role-based dashboards and modular learner workflows.</a:t>
            </a:r>
          </a:p>
          <a:p>
            <a:pPr>
              <a:defRPr sz="1600">
                <a:solidFill>
                  <a:srgbClr val="0F172A"/>
                </a:solidFill>
                <a:latin typeface="Aptos"/>
              </a:defRPr>
            </a:pPr>
            <a:r>
              <a:t>Redis and Docker enable scalable read paths, portable environments, and clean deployment packaging.</a:t>
            </a:r>
          </a:p>
          <a:p>
            <a:pPr>
              <a:defRPr sz="1600">
                <a:solidFill>
                  <a:srgbClr val="0F172A"/>
                </a:solidFill>
                <a:latin typeface="Aptos"/>
              </a:defRPr>
            </a:pPr>
            <a:r>
              <a:t>Works naturally with Azure managed services such as Entra ID, Key Vault, Container Apps, Monitor, and managed databases.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Corporate Learning Progress Tracking System |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869680" cy="384048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r>
              <a:rPr sz="2400" b="1">
                <a:solidFill>
                  <a:srgbClr val="172554"/>
                </a:solidFill>
                <a:latin typeface="Aptos"/>
              </a:rPr>
              <a:t>Orchestration Diagram for Application Components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064240" cy="1828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965960"/>
            <a:ext cx="1143000" cy="65836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F172A"/>
                </a:solidFill>
                <a:latin typeface="Aptos"/>
              </a:rPr>
              <a:t>User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45920" y="2295144"/>
            <a:ext cx="274320" cy="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920240" y="1965960"/>
            <a:ext cx="1143000" cy="65836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F172A"/>
                </a:solidFill>
                <a:latin typeface="Aptos"/>
              </a:rPr>
              <a:t>Frontend
React/Angular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63240" y="2295144"/>
            <a:ext cx="274320" cy="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337560" y="1965960"/>
            <a:ext cx="1143000" cy="658368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ASP.NET Core API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480560" y="2295144"/>
            <a:ext cx="274320" cy="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754880" y="1965960"/>
            <a:ext cx="1143000" cy="658368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F172A"/>
                </a:solidFill>
                <a:latin typeface="Aptos"/>
              </a:rPr>
              <a:t>Application Services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97880" y="2295144"/>
            <a:ext cx="274320" cy="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72200" y="1965960"/>
            <a:ext cx="1143000" cy="65836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F172A"/>
                </a:solidFill>
                <a:latin typeface="Aptos"/>
              </a:rPr>
              <a:t>Domain Rules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0" y="2295144"/>
            <a:ext cx="274320" cy="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589520" y="1965960"/>
            <a:ext cx="1143000" cy="65836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F172A"/>
                </a:solidFill>
                <a:latin typeface="Aptos"/>
              </a:rPr>
              <a:t>Database / Cache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32520" y="2295144"/>
            <a:ext cx="274320" cy="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006840" y="1965960"/>
            <a:ext cx="1143000" cy="65836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F172A"/>
                </a:solidFill>
                <a:latin typeface="Aptos"/>
              </a:rPr>
              <a:t>Workers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149840" y="2295144"/>
            <a:ext cx="274320" cy="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424160" y="1965960"/>
            <a:ext cx="1143000" cy="658368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F172A"/>
                </a:solidFill>
                <a:latin typeface="Aptos"/>
              </a:rPr>
              <a:t>Reports / Notifications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4290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Dashboard flow: user selects learner, API loads profile, application aggregates attendance, assessment, risk, competency, and intervention data.</a:t>
            </a:r>
          </a:p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Ingestion flow: API, Excel, and UI forms validate rows, create import batches, persist valid records, and log errors or reconciliation issues.</a:t>
            </a:r>
          </a:p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Async flow: workers recalculate risk, create notifications, process reports, and write audit history.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Corporate Learning Progress Tracking System |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869680" cy="384048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r>
              <a:rPr sz="2400" b="1">
                <a:solidFill>
                  <a:srgbClr val="172554"/>
                </a:solidFill>
                <a:latin typeface="Aptos"/>
              </a:rPr>
              <a:t>Reasons to Choose Deployment Strategy: DEPLOY-AZURE-CONTAINER-APPS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064240" cy="1828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F172A"/>
                </a:solidFill>
                <a:latin typeface="Aptos"/>
              </a:defRPr>
            </a:pPr>
            <a:r>
              <a:t>Runs API, ingestion worker, risk evaluation worker, report worker, and notification worker as containers.</a:t>
            </a:r>
          </a:p>
          <a:p>
            <a:pPr>
              <a:defRPr sz="1600">
                <a:solidFill>
                  <a:srgbClr val="0F172A"/>
                </a:solidFill>
                <a:latin typeface="Aptos"/>
              </a:defRPr>
            </a:pPr>
            <a:r>
              <a:t>Supports autoscaling for variable workloads such as Excel imports and report generation.</a:t>
            </a:r>
          </a:p>
          <a:p>
            <a:pPr>
              <a:defRPr sz="1600">
                <a:solidFill>
                  <a:srgbClr val="0F172A"/>
                </a:solidFill>
                <a:latin typeface="Aptos"/>
              </a:defRPr>
            </a:pPr>
            <a:r>
              <a:t>Integrates with Azure Database for PostgreSQL, Azure Cache for Redis, Blob Storage, Key Vault, Entra ID, and Azure Monitor.</a:t>
            </a:r>
          </a:p>
          <a:p>
            <a:pPr>
              <a:defRPr sz="1600">
                <a:solidFill>
                  <a:srgbClr val="0F172A"/>
                </a:solidFill>
                <a:latin typeface="Aptos"/>
              </a:defRPr>
            </a:pPr>
            <a:r>
              <a:t>Supports managed identity and secrets without hardcoding credentials.</a:t>
            </a:r>
          </a:p>
          <a:p>
            <a:pPr>
              <a:defRPr sz="1600">
                <a:solidFill>
                  <a:srgbClr val="0F172A"/>
                </a:solidFill>
                <a:latin typeface="Aptos"/>
              </a:defRPr>
            </a:pPr>
            <a:r>
              <a:t>Lower operational overhead than AKS while still supporting production-grade deployment.</a:t>
            </a:r>
          </a:p>
          <a:p>
            <a:pPr>
              <a:defRPr sz="1600">
                <a:solidFill>
                  <a:srgbClr val="0F172A"/>
                </a:solidFill>
                <a:latin typeface="Aptos"/>
              </a:defRPr>
            </a:pPr>
            <a:r>
              <a:t>Best fit for enterprise POC to early production where managed services are preferred.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Corporate Learning Progress Tracking System |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869680" cy="384048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r>
              <a:rPr sz="2400" b="1">
                <a:solidFill>
                  <a:srgbClr val="172554"/>
                </a:solidFill>
                <a:latin typeface="Aptos"/>
              </a:rPr>
              <a:t>Deployment Strategy Diagram: Azure Container Apps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064240" cy="1828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1554480" cy="64008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Developers
Git Repository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417320"/>
            <a:ext cx="1828800" cy="64008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CI/CD Pipeline
Build | Test | Scan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0" y="1417320"/>
            <a:ext cx="1828800" cy="64008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Container Registry
Versioned Images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325880"/>
            <a:ext cx="1920240" cy="82296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Azure Container Apps
API + Workers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1417320"/>
            <a:ext cx="1325880" cy="64008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Users
HTTPS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1737360"/>
            <a:ext cx="548640" cy="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72000" y="1737360"/>
            <a:ext cx="594360" cy="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95160" y="1737360"/>
            <a:ext cx="548640" cy="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464040" y="1737360"/>
            <a:ext cx="594360" cy="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828800" y="3246120"/>
            <a:ext cx="1554480" cy="786384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Azure Database
PostgreSQL / SQL Server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606040" y="2148840"/>
            <a:ext cx="5852160" cy="109728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160520" y="3246120"/>
            <a:ext cx="1554480" cy="786384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Azure Cache
for Redis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4937759" y="2148840"/>
            <a:ext cx="3520441" cy="109728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72200" y="3246120"/>
            <a:ext cx="1554480" cy="786384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Blob Storage
Imports + Reports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6949440" y="2148840"/>
            <a:ext cx="1508760" cy="109728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183879" y="3246120"/>
            <a:ext cx="1554480" cy="786384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Key Vault
Secrets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58200" y="2148840"/>
            <a:ext cx="502919" cy="109728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966960" y="3246120"/>
            <a:ext cx="1554480" cy="786384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Azure Monitor
Logs + Metrics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58200" y="2148840"/>
            <a:ext cx="2286000" cy="109728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2960" y="5715000"/>
            <a:ext cx="10607040" cy="36576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Aptos"/>
              </a:rPr>
              <a:t>Deployment model: containerized services with managed identity, secrets, observability, autoscaling, and managed data services.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Corporate Learning Progress Tracking System |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869680" cy="384048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r>
              <a:rPr sz="2400" b="1">
                <a:solidFill>
                  <a:srgbClr val="172554"/>
                </a:solidFill>
                <a:latin typeface="Aptos"/>
              </a:rPr>
              <a:t>Known Issues and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064240" cy="1828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F172A"/>
                </a:solidFill>
                <a:latin typeface="Aptos"/>
              </a:defRPr>
            </a:pPr>
            <a:r>
              <a:t>POC implementation covers core flows but does not yet represent a fully hardened production system.</a:t>
            </a:r>
          </a:p>
          <a:p>
            <a:pPr>
              <a:defRPr sz="1600">
                <a:solidFill>
                  <a:srgbClr val="0F172A"/>
                </a:solidFill>
                <a:latin typeface="Aptos"/>
              </a:defRPr>
            </a:pPr>
            <a:r>
              <a:t>Risk rules and intervention workflows are partially implemented and need richer UI, validation, and workflow controls.</a:t>
            </a:r>
          </a:p>
          <a:p>
            <a:pPr>
              <a:defRPr sz="1600">
                <a:solidFill>
                  <a:srgbClr val="0F172A"/>
                </a:solidFill>
                <a:latin typeface="Aptos"/>
              </a:defRPr>
            </a:pPr>
            <a:r>
              <a:t>Compliance report generation is tracked but final evidence export templates need completion.</a:t>
            </a:r>
          </a:p>
          <a:p>
            <a:pPr>
              <a:defRPr sz="1600">
                <a:solidFill>
                  <a:srgbClr val="0F172A"/>
                </a:solidFill>
                <a:latin typeface="Aptos"/>
              </a:defRPr>
            </a:pPr>
            <a:r>
              <a:t>Authentication and authorization are documented conceptually; production identity integration must be finalized.</a:t>
            </a:r>
          </a:p>
          <a:p>
            <a:pPr>
              <a:defRPr sz="1600">
                <a:solidFill>
                  <a:srgbClr val="0F172A"/>
                </a:solidFill>
                <a:latin typeface="Aptos"/>
              </a:defRPr>
            </a:pPr>
            <a:r>
              <a:t>Excel ingestion supports key record types but needs stronger template governance, preview, and row-level correction UI.</a:t>
            </a:r>
          </a:p>
          <a:p>
            <a:pPr>
              <a:defRPr sz="1600">
                <a:solidFill>
                  <a:srgbClr val="0F172A"/>
                </a:solidFill>
                <a:latin typeface="Aptos"/>
              </a:defRPr>
            </a:pPr>
            <a:r>
              <a:t>Operational hardening such as full CI/CD, automated regression tests, security scans, and monitoring dashboards remains future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Corporate Learning Progress Tracking System |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869680" cy="384048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r>
              <a:rPr sz="2400" b="1">
                <a:solidFill>
                  <a:srgbClr val="172554"/>
                </a:solidFill>
                <a:latin typeface="Aptos"/>
              </a:rPr>
              <a:t>Future Improvements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064240" cy="1828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F172A"/>
                </a:solidFill>
                <a:latin typeface="Aptos"/>
              </a:defRPr>
            </a:pPr>
            <a:r>
              <a:t>Complete risk rule builder, explainability UI, recalculation jobs, and trend analytics.</a:t>
            </a:r>
          </a:p>
          <a:p>
            <a:pPr>
              <a:defRPr sz="1600">
                <a:solidFill>
                  <a:srgbClr val="0F172A"/>
                </a:solidFill>
                <a:latin typeface="Aptos"/>
              </a:defRPr>
            </a:pPr>
            <a:r>
              <a:t>Add full intervention lifecycle management with assignment, SLA reminders, escalations, and closure evidence.</a:t>
            </a:r>
          </a:p>
          <a:p>
            <a:pPr>
              <a:defRPr sz="1600">
                <a:solidFill>
                  <a:srgbClr val="0F172A"/>
                </a:solidFill>
                <a:latin typeface="Aptos"/>
              </a:defRPr>
            </a:pPr>
            <a:r>
              <a:t>Build compliance report templates with scheduled generation, approval flow, and export evidence package.</a:t>
            </a:r>
          </a:p>
          <a:p>
            <a:pPr>
              <a:defRPr sz="1600">
                <a:solidFill>
                  <a:srgbClr val="0F172A"/>
                </a:solidFill>
                <a:latin typeface="Aptos"/>
              </a:defRPr>
            </a:pPr>
            <a:r>
              <a:t>Integrate enterprise identity via Microsoft Entra ID and enforce RBAC plus attribute-based learner access.</a:t>
            </a:r>
          </a:p>
          <a:p>
            <a:pPr>
              <a:defRPr sz="1600">
                <a:solidFill>
                  <a:srgbClr val="0F172A"/>
                </a:solidFill>
                <a:latin typeface="Aptos"/>
              </a:defRPr>
            </a:pPr>
            <a:r>
              <a:t>Expand automated tests across unit, API, integration, UI, E2E, performance, and security checks.</a:t>
            </a:r>
          </a:p>
          <a:p>
            <a:pPr>
              <a:defRPr sz="1600">
                <a:solidFill>
                  <a:srgbClr val="0F172A"/>
                </a:solidFill>
                <a:latin typeface="Aptos"/>
              </a:defRPr>
            </a:pPr>
            <a:r>
              <a:t>Add observability dashboards for ingestion quality, risk recalculation, report jobs, and user activity.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Corporate Learning Progress Tracking System |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869680" cy="384048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r>
              <a:rPr sz="2400" b="1">
                <a:solidFill>
                  <a:srgbClr val="172554"/>
                </a:solidFill>
                <a:latin typeface="Aptos"/>
              </a:rPr>
              <a:t>4 Team Members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064240" cy="1828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828800" cy="50292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Architect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4983480" cy="96012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Business Architecture
Problem statement, requirements, use cases, user restrictions, presentation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17320"/>
            <a:ext cx="1828800" cy="50292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Architect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57400"/>
            <a:ext cx="4983480" cy="96012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Solution Architecture
Hybrid enterprise architecture, .NET stack, API contracts, technical decisions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828800" cy="50292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Architect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4983480" cy="9601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Data &amp; Integration Architecture
Ingestion strategy, Excel/API forms, database model, reconciliation, audit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474720"/>
            <a:ext cx="1828800" cy="50292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Architect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114800"/>
            <a:ext cx="4983480" cy="96012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DevOps &amp; Delivery Architecture
Azure Container Apps, CI/CD/CT, deployment, monitoring, demo readiness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Corporate Learning Progress Tracking System |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869680" cy="384048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r>
              <a:rPr sz="2400" b="1">
                <a:solidFill>
                  <a:srgbClr val="172554"/>
                </a:solidFill>
                <a:latin typeface="Aptos"/>
              </a:rPr>
              <a:t>Solution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064240" cy="1828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234440"/>
          <a:ext cx="1083564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7820"/>
                <a:gridCol w="5417820"/>
              </a:tblGrid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Area</a:t>
                      </a:r>
                    </a:p>
                  </a:txBody>
                  <a:tcPr marL="54864" marR="54864" marT="36576" marB="36576"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Overview</a:t>
                      </a:r>
                    </a:p>
                  </a:txBody>
                  <a:tcPr marL="54864" marR="54864" marT="36576" marB="36576">
                    <a:solidFill>
                      <a:srgbClr val="17255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Focused system for learning progress, risk, intervention, and compliance tracking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Users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Learners, trainers, managers, L&amp;D admins, compliance officers, system admins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Core Data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Employees, programs, attendance, assessments, competencies, risks, interventions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Main Channels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Web portal, REST APIs, Excel upload, UI ingestion forms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Architecture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Hybrid enterprise modular monolith with clean layers and managed services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Deployment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Dockerized API/workers on Azure Container Apps with managed database, Redis, storage, and monitoring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Corporate Learning Progress Tracking System |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869680" cy="384048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r>
              <a:rPr sz="2400" b="1">
                <a:solidFill>
                  <a:srgbClr val="172554"/>
                </a:solidFill>
                <a:latin typeface="Aptos"/>
              </a:rPr>
              <a:t>Solution Overview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064240" cy="1828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2057400" cy="86868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Data Sources
LMS | HRIS | Assessment Tools | Excel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600200"/>
            <a:ext cx="1874519" cy="86868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Ingestion Layer
API | Excel | UI Forms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06440" y="1417320"/>
            <a:ext cx="2057400" cy="123444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Learning Intelligence
Profiles | Rules | Risk | Interventions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1600200"/>
            <a:ext cx="2057400" cy="86868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Evidence Layer
Dashboards | Reports | Audit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2039112"/>
            <a:ext cx="594360" cy="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212080" y="2039112"/>
            <a:ext cx="594360" cy="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863840" y="2039112"/>
            <a:ext cx="594360" cy="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28800" y="3840480"/>
            <a:ext cx="1920240" cy="7315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Role-Based Portal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3840480"/>
            <a:ext cx="1920240" cy="73152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Managed Data 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3840480"/>
            <a:ext cx="1920240" cy="73152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Async Workers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788920" y="2651760"/>
            <a:ext cx="4050792" cy="118872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623560" y="2651760"/>
            <a:ext cx="1216152" cy="118872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6839712" y="2651760"/>
            <a:ext cx="1618488" cy="118872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51560" y="5623560"/>
            <a:ext cx="10241280" cy="411480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Aptos"/>
              </a:rPr>
              <a:t>Outcome: a single operational and compliance view that turns fragmented learning records into timely intervention and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Corporate Learning Progress Tracking System |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869680" cy="384048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r>
              <a:rPr sz="2400" b="1">
                <a:solidFill>
                  <a:srgbClr val="172554"/>
                </a:solidFill>
                <a:latin typeface="Aptos"/>
              </a:rPr>
              <a:t>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064240" cy="1828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F172A"/>
                </a:solidFill>
                <a:latin typeface="Aptos"/>
              </a:defRPr>
            </a:pPr>
            <a:r>
              <a:t>Move from POC to production with full identity integration, tenant/department scoping, and hardened RBAC.</a:t>
            </a:r>
          </a:p>
          <a:p>
            <a:pPr>
              <a:defRPr sz="1600">
                <a:solidFill>
                  <a:srgbClr val="0F172A"/>
                </a:solidFill>
                <a:latin typeface="Aptos"/>
              </a:defRPr>
            </a:pPr>
            <a:r>
              <a:t>Introduce advanced analytics for learning risk prediction, cohort trends, and intervention effectiveness.</a:t>
            </a:r>
          </a:p>
          <a:p>
            <a:pPr>
              <a:defRPr sz="1600">
                <a:solidFill>
                  <a:srgbClr val="0F172A"/>
                </a:solidFill>
                <a:latin typeface="Aptos"/>
              </a:defRPr>
            </a:pPr>
            <a:r>
              <a:t>Add workflow approvals for compliance exceptions and intervention closure.</a:t>
            </a:r>
          </a:p>
          <a:p>
            <a:pPr>
              <a:defRPr sz="1600">
                <a:solidFill>
                  <a:srgbClr val="0F172A"/>
                </a:solidFill>
                <a:latin typeface="Aptos"/>
              </a:defRPr>
            </a:pPr>
            <a:r>
              <a:t>Support integrations with enterprise LMS, HRIS, assessment platforms, and notification channels.</a:t>
            </a:r>
          </a:p>
          <a:p>
            <a:pPr>
              <a:defRPr sz="1600">
                <a:solidFill>
                  <a:srgbClr val="0F172A"/>
                </a:solidFill>
                <a:latin typeface="Aptos"/>
              </a:defRPr>
            </a:pPr>
            <a:r>
              <a:t>Scale reporting to scheduled compliance packs, audit exports, and evidence retention policies.</a:t>
            </a:r>
          </a:p>
          <a:p>
            <a:pPr>
              <a:defRPr sz="1600">
                <a:solidFill>
                  <a:srgbClr val="0F172A"/>
                </a:solidFill>
                <a:latin typeface="Aptos"/>
              </a:defRPr>
            </a:pPr>
            <a:r>
              <a:t>Consider event-driven processing or microservices only when volume, team scale, or integration complexity justifies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lIns="73152" rIns="73152" tIns="36576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Corporate Learning Progress Tracking System | Slide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